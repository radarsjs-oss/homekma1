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레이더 추적 기술 및 필터 알고리즘 총괄 분석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레이더 추적 기술 및</a:t>
            </a:r>
            <a:br/>
            <a:r>
              <a:rPr b="1"/>
              <a:t>필터 알고리즘 총괄 분석</a:t>
            </a:r>
          </a:p>
          <a:p>
            <a:pPr lvl="0" indent="0" marL="0">
              <a:buNone/>
            </a:pPr>
            <a:r>
              <a:rPr/>
              <a:t>Radar Tracking Technology Analysis</a:t>
            </a:r>
          </a:p>
          <a:p>
            <a:pPr lvl="0" indent="0" marL="0">
              <a:buNone/>
            </a:pPr>
            <a:r>
              <a:rPr/>
              <a:t>2025. 12.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레이더 추적기의 역할 및 개요</a:t>
            </a:r>
          </a:p>
          <a:p>
            <a:pPr lvl="0"/>
            <a:r>
              <a:rPr b="1"/>
              <a:t>정의:</a:t>
            </a:r>
            <a:r>
              <a:rPr/>
              <a:t> 연속적인 레이더 관측치를 동일 표적의 항적으로 연관시키는 핵심 기술</a:t>
            </a:r>
          </a:p>
          <a:p>
            <a:pPr lvl="0"/>
            <a:r>
              <a:rPr b="1"/>
              <a:t>핵심 기능:</a:t>
            </a:r>
            <a:r>
              <a:rPr/>
              <a:t> 관측치 연관(Association)을 통한 지속적 항적 생성</a:t>
            </a:r>
          </a:p>
          <a:p>
            <a:pPr lvl="0"/>
            <a:r>
              <a:rPr b="1"/>
              <a:t>정밀 추정:</a:t>
            </a:r>
            <a:r>
              <a:rPr/>
              <a:t> 위치뿐만 아니라 속도, 진행 방향 등 상태 변수 계산</a:t>
            </a:r>
          </a:p>
          <a:p>
            <a:pPr lvl="0"/>
            <a:r>
              <a:rPr b="1"/>
              <a:t>잡음 제거:</a:t>
            </a:r>
            <a:r>
              <a:rPr/>
              <a:t> 열잡음, 클러터 등 허위 신호 식별 및 필터링</a:t>
            </a:r>
          </a:p>
          <a:p>
            <a:pPr lvl="0"/>
            <a:r>
              <a:rPr b="1"/>
              <a:t>오차 평활화:</a:t>
            </a:r>
            <a:r>
              <a:rPr/>
              <a:t> 수학적 모델로 측정 오차를 보정하여 정밀도 향상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추적 알고리즘의 일반적 접근 단계</a:t>
            </a:r>
          </a:p>
          <a:p>
            <a:pPr lvl="0"/>
            <a:r>
              <a:rPr b="1"/>
              <a:t>1단계:</a:t>
            </a:r>
            <a:r>
              <a:rPr/>
              <a:t> 기존 항적과 신규 플롯의 연관성 판단</a:t>
            </a:r>
          </a:p>
          <a:p>
            <a:pPr lvl="0"/>
            <a:r>
              <a:rPr b="1"/>
              <a:t>2단계:</a:t>
            </a:r>
            <a:r>
              <a:rPr/>
              <a:t> 예측치와 측정치를 이용한 항적 갱신 (Update)</a:t>
            </a:r>
          </a:p>
          <a:p>
            <a:pPr lvl="0"/>
            <a:r>
              <a:rPr b="1"/>
              <a:t>3단계:</a:t>
            </a:r>
            <a:r>
              <a:rPr/>
              <a:t> 미연관 플롯을 활용한 신규 항적 개시 (Initiation)</a:t>
            </a:r>
          </a:p>
          <a:p>
            <a:pPr lvl="0"/>
            <a:r>
              <a:rPr b="1"/>
              <a:t>4단계:</a:t>
            </a:r>
            <a:r>
              <a:rPr/>
              <a:t> 추적 유지 및 이탈 시 항적 삭제 (Maintenance)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플롯-항적 연관 및 관리 기법</a:t>
            </a:r>
          </a:p>
          <a:p>
            <a:pPr lvl="0"/>
            <a:r>
              <a:rPr b="1"/>
              <a:t>수용 게이트(Gating):</a:t>
            </a:r>
            <a:r>
              <a:rPr/>
              <a:t> 예측 위치 주변에 통계적 범위를 설정하여 후보 선별</a:t>
            </a:r>
          </a:p>
          <a:p>
            <a:pPr lvl="0"/>
            <a:r>
              <a:rPr b="1"/>
              <a:t>선택 기법:</a:t>
            </a:r>
            <a:r>
              <a:rPr/>
              <a:t> 최근접 이웃(NN) 또는 최대 강도 신호 선택</a:t>
            </a:r>
          </a:p>
          <a:p>
            <a:pPr lvl="0"/>
            <a:r>
              <a:rPr b="1"/>
              <a:t>확률적 연관:</a:t>
            </a:r>
            <a:r>
              <a:rPr/>
              <a:t> JPDAF 등 통계적 기법으로 최적 위치 결정</a:t>
            </a:r>
          </a:p>
          <a:p>
            <a:pPr lvl="0"/>
            <a:r>
              <a:rPr b="1"/>
              <a:t>M-of-N 규칙:</a:t>
            </a:r>
            <a:r>
              <a:rPr/>
              <a:t> N번 스캔 중 M번 탐지 시 신규 항적 확정 (예: 3-of-5)</a:t>
            </a:r>
          </a:p>
          <a:p>
            <a:pPr lvl="0"/>
            <a:r>
              <a:rPr b="1"/>
              <a:t>항적 종료:</a:t>
            </a:r>
            <a:r>
              <a:rPr/>
              <a:t> 일정 횟수 이상 연속 미탐지 시 추적 중단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선형 칼만 필터(Kalman Filter)의 기초</a:t>
            </a:r>
          </a:p>
          <a:p>
            <a:pPr lvl="0"/>
            <a:r>
              <a:rPr b="1"/>
              <a:t>개념:</a:t>
            </a:r>
            <a:r>
              <a:rPr/>
              <a:t> 선형 시스템/가우시안 잡음 환경의 최적 상태 추정기</a:t>
            </a:r>
          </a:p>
          <a:p>
            <a:pPr lvl="0"/>
            <a:r>
              <a:rPr b="1"/>
              <a:t>구조:</a:t>
            </a:r>
            <a:r>
              <a:rPr/>
              <a:t> '예측(Prediction)'과 '보정(Correction)'의 무한 루프</a:t>
            </a:r>
          </a:p>
          <a:p>
            <a:pPr lvl="0"/>
            <a:r>
              <a:rPr b="1"/>
              <a:t>상태 전이 행렬 ($F$):</a:t>
            </a:r>
            <a:r>
              <a:rPr/>
              <a:t> 물리 법칙을 기반으로 미래 상태 예측</a:t>
            </a:r>
          </a:p>
          <a:p>
            <a:pPr lvl="0"/>
            <a:r>
              <a:rPr b="1"/>
              <a:t>칼만 이득 ($K$):</a:t>
            </a:r>
            <a:r>
              <a:rPr/>
              <a:t> 예측값과 측정값 사이의 가중치 조절 파라미터</a:t>
            </a:r>
          </a:p>
          <a:p>
            <a:pPr lvl="0"/>
            <a:r>
              <a:rPr b="1"/>
              <a:t>오차 공분산 ($P$):</a:t>
            </a:r>
            <a:r>
              <a:rPr/>
              <a:t> 추정치의 정확도(신뢰도)를 수치화하여 관리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확장 칼만 필터(EKF)의 원리</a:t>
            </a:r>
          </a:p>
          <a:p>
            <a:pPr lvl="0"/>
            <a:r>
              <a:rPr b="1"/>
              <a:t>필요성:</a:t>
            </a:r>
            <a:r>
              <a:rPr/>
              <a:t> 현실 세계의 비선형 시스템(거리-좌표 변환 등) 처리에 필수</a:t>
            </a:r>
          </a:p>
          <a:p>
            <a:pPr lvl="0"/>
            <a:r>
              <a:rPr b="1"/>
              <a:t>핵심 기술:</a:t>
            </a:r>
            <a:r>
              <a:rPr/>
              <a:t> 테일러 급수 전개를 통한 선형화(Linearization)</a:t>
            </a:r>
          </a:p>
          <a:p>
            <a:pPr lvl="0"/>
            <a:r>
              <a:rPr b="1"/>
              <a:t>야코비안 행렬:</a:t>
            </a:r>
            <a:r>
              <a:rPr/>
              <a:t> 비선형 함수의 편미분 값으로 구성된 행렬 사용</a:t>
            </a:r>
          </a:p>
          <a:p>
            <a:pPr lvl="0"/>
            <a:r>
              <a:rPr b="1"/>
              <a:t>특징:</a:t>
            </a:r>
            <a:r>
              <a:rPr/>
              <a:t> 레이더의 구 좌표계(거리, 각도) 데이터를 직교 좌표계로 변환</a:t>
            </a:r>
          </a:p>
          <a:p>
            <a:pPr lvl="0"/>
            <a:r>
              <a:rPr b="1"/>
              <a:t>주의점:</a:t>
            </a:r>
            <a:r>
              <a:rPr/>
              <a:t> 선형화 기준점이 부정확할 경우 오차 누적 및 발산 위험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레이더 추적을 위한 EKF 시스템 모델</a:t>
            </a:r>
          </a:p>
          <a:p>
            <a:pPr lvl="0"/>
            <a:r>
              <a:rPr b="1"/>
              <a:t>상태 벡터 ($x$):</a:t>
            </a:r>
            <a:r>
              <a:rPr/>
              <a:t> [수평거리, 이동속도, 고도] 등으로 구성</a:t>
            </a:r>
          </a:p>
          <a:p>
            <a:pPr lvl="0"/>
            <a:r>
              <a:rPr b="1"/>
              <a:t>전이 모델:</a:t>
            </a:r>
            <a:r>
              <a:rPr/>
              <a:t> 등속 운동 또는 등고도 유지 가정하에 행렬 수립</a:t>
            </a:r>
          </a:p>
          <a:p>
            <a:pPr lvl="0"/>
            <a:r>
              <a:rPr b="1"/>
              <a:t>관측 함수 ($h(x)$):</a:t>
            </a:r>
            <a:r>
              <a:rPr/>
              <a:t> $r = \sqrt{x^2 + y^2 + z^2}$ 형태의 비선형 수식</a:t>
            </a:r>
          </a:p>
          <a:p>
            <a:pPr lvl="0"/>
            <a:r>
              <a:rPr b="1"/>
              <a:t>잡음 모델:</a:t>
            </a:r>
            <a:r>
              <a:rPr/>
              <a:t> 시스템 잡음($Q$)과 측정 잡음($R$) 공분산 설정</a:t>
            </a:r>
          </a:p>
          <a:p>
            <a:pPr lvl="0"/>
            <a:r>
              <a:rPr b="1"/>
              <a:t>동적 갱신:</a:t>
            </a:r>
            <a:r>
              <a:rPr/>
              <a:t> 매 주기마다 야코비안 행렬($H$)을 새로 계산하여 적용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적응형 확장 칼만 필터(AEKF)</a:t>
            </a:r>
          </a:p>
          <a:p>
            <a:pPr lvl="0"/>
            <a:r>
              <a:rPr b="1"/>
              <a:t>배경:</a:t>
            </a:r>
            <a:r>
              <a:rPr/>
              <a:t> 거리에 따라 레이더 잡음의 세기가 달라지는 특성 반영</a:t>
            </a:r>
          </a:p>
          <a:p>
            <a:pPr lvl="0"/>
            <a:r>
              <a:rPr b="1"/>
              <a:t>열잡음 (Thermal):</a:t>
            </a:r>
            <a:r>
              <a:rPr/>
              <a:t> 거리가 멀어질수록 제곱에 비례하여 증가 ($R \propto r^2$)</a:t>
            </a:r>
          </a:p>
          <a:p>
            <a:pPr lvl="0"/>
            <a:r>
              <a:rPr b="1"/>
              <a:t>글린트 (Glint):</a:t>
            </a:r>
            <a:r>
              <a:rPr/>
              <a:t> 거리가 멀어질수록 영향력 감소 ($R \propto 1/r^2$)</a:t>
            </a:r>
          </a:p>
          <a:p>
            <a:pPr lvl="0"/>
            <a:r>
              <a:rPr b="1"/>
              <a:t>적응형 로직:</a:t>
            </a:r>
            <a:r>
              <a:rPr/>
              <a:t> 현재 측정된 거리를 기반으로 공분산 $R$을 실시간 보정</a:t>
            </a:r>
          </a:p>
          <a:p>
            <a:pPr lvl="0"/>
            <a:r>
              <a:rPr b="1"/>
              <a:t>효과:</a:t>
            </a:r>
            <a:r>
              <a:rPr/>
              <a:t> 원거리/근거리 변화에도 필터 발산 방지 및 추적 안정화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AEKF 성능 분석 (KSLV-I 사례)</a:t>
            </a:r>
          </a:p>
          <a:p>
            <a:pPr lvl="0"/>
            <a:r>
              <a:rPr b="1"/>
              <a:t>검증 대상:</a:t>
            </a:r>
            <a:r>
              <a:rPr/>
              <a:t> 한국형 발사체(나로호)의 실제 비행 궤적 데이터</a:t>
            </a:r>
          </a:p>
          <a:p>
            <a:pPr lvl="0"/>
            <a:r>
              <a:rPr b="1"/>
              <a:t>평가 지표:</a:t>
            </a:r>
            <a:r>
              <a:rPr/>
              <a:t> 방위각 및 고도각 오차의 RMS(평균 제곱근) 값</a:t>
            </a:r>
          </a:p>
          <a:p>
            <a:pPr lvl="0"/>
            <a:r>
              <a:rPr b="1"/>
              <a:t>결과 비교:</a:t>
            </a:r>
            <a:r>
              <a:rPr/>
              <a:t> 기존 EKF는 원거리에서 드리프트(Drift) 발생</a:t>
            </a:r>
          </a:p>
          <a:p>
            <a:pPr lvl="0"/>
            <a:r>
              <a:rPr b="1"/>
              <a:t>성능 입증:</a:t>
            </a:r>
            <a:r>
              <a:rPr/>
              <a:t> AEKF는 거리 변화에 따른 잡음을 추종하여 정밀도 유지</a:t>
            </a:r>
          </a:p>
          <a:p>
            <a:pPr lvl="0"/>
            <a:r>
              <a:rPr b="1"/>
              <a:t>정밀도:</a:t>
            </a:r>
            <a:r>
              <a:rPr/>
              <a:t> AN/FPS-16 정밀 추적 레이더급 성능 만족 확인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상호작용 다중 모델(IMM) 필터 개요</a:t>
            </a:r>
          </a:p>
          <a:p>
            <a:pPr lvl="0"/>
            <a:r>
              <a:rPr b="1"/>
              <a:t>개념:</a:t>
            </a:r>
            <a:r>
              <a:rPr/>
              <a:t> 기동 특성이 다른 여러 필터(등속, 가속, 선회)를 병렬 운용</a:t>
            </a:r>
          </a:p>
          <a:p>
            <a:pPr lvl="0"/>
            <a:r>
              <a:rPr b="1"/>
              <a:t>작동 원리:</a:t>
            </a:r>
            <a:r>
              <a:rPr/>
              <a:t> 마르코프 연쇄를 기반으로 표적의 기동 모드 확률 계산</a:t>
            </a:r>
          </a:p>
          <a:p>
            <a:pPr lvl="0"/>
            <a:r>
              <a:rPr b="1"/>
              <a:t>가중치 융합:</a:t>
            </a:r>
            <a:r>
              <a:rPr/>
              <a:t> 각 모델의 적합도(Likelihood)에 따라 결과값 혼합</a:t>
            </a:r>
          </a:p>
          <a:p>
            <a:pPr lvl="0"/>
            <a:r>
              <a:rPr b="1"/>
              <a:t>장점:</a:t>
            </a:r>
            <a:r>
              <a:rPr/>
              <a:t> 표적이 급선회하거나 가속할 때 지연 없이 즉각 반응</a:t>
            </a:r>
          </a:p>
          <a:p>
            <a:pPr lvl="0"/>
            <a:r>
              <a:rPr b="1"/>
              <a:t>효율성:</a:t>
            </a:r>
            <a:r>
              <a:rPr/>
              <a:t> 단일 모델 대비 복잡하지만 기동 표적 추적에 최적화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10. IMM 알고리즘의 4단계 처리 과정</a:t>
            </a:r>
          </a:p>
          <a:p>
            <a:pPr lvl="0" indent="-342900" marL="342900">
              <a:buAutoNum type="arabicPeriod"/>
            </a:pPr>
            <a:r>
              <a:rPr b="1"/>
              <a:t>상호 혼합 (Mixing):</a:t>
            </a:r>
            <a:r>
              <a:rPr/>
              <a:t> 이전 확률을 이용해 각 필터의 입력값 재분배</a:t>
            </a:r>
          </a:p>
          <a:p>
            <a:pPr lvl="0" indent="-342900" marL="342900">
              <a:buAutoNum type="arabicPeriod"/>
            </a:pPr>
            <a:r>
              <a:rPr b="1"/>
              <a:t>개별 필터링 (Filtering):</a:t>
            </a:r>
            <a:r>
              <a:rPr/>
              <a:t> 각 모델별(CV, CA 등)로 예측 및 갱신 수행</a:t>
            </a:r>
          </a:p>
          <a:p>
            <a:pPr lvl="0" indent="-342900" marL="342900">
              <a:buAutoNum type="arabicPeriod"/>
            </a:pPr>
            <a:r>
              <a:rPr b="1"/>
              <a:t>확률 갱신 (Update):</a:t>
            </a:r>
            <a:r>
              <a:rPr/>
              <a:t> 측정치와 예측치의 차이로 모델별 우도 계산</a:t>
            </a:r>
          </a:p>
          <a:p>
            <a:pPr lvl="0" indent="-342900" marL="342900">
              <a:buAutoNum type="arabicPeriod"/>
            </a:pPr>
            <a:r>
              <a:rPr b="1"/>
              <a:t>결과 결합 (Combination):</a:t>
            </a:r>
            <a:r>
              <a:rPr/>
              <a:t> 갱신된 확률을 가중치로 최종 항적 도출</a:t>
            </a:r>
          </a:p>
          <a:p>
            <a:pPr lvl="0" indent="0" marL="0">
              <a:buNone/>
            </a:pPr>
            <a:r>
              <a:rPr/>
              <a:t>* 이 과정을 매 스캔마다 반복하여 최적의 모델을 자동 선택함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11. IMM 구성을 위한 주요 필터 모델</a:t>
            </a:r>
          </a:p>
          <a:p>
            <a:pPr lvl="0"/>
            <a:r>
              <a:rPr b="1"/>
              <a:t>등속도(CV) 모델:</a:t>
            </a:r>
            <a:r>
              <a:rPr/>
              <a:t> 비기동 구간용, 작은 잡음($Q$) 설정으로 안정성 확보</a:t>
            </a:r>
          </a:p>
          <a:p>
            <a:pPr lvl="0"/>
            <a:r>
              <a:rPr b="1"/>
              <a:t>등가속도(CA) 모델:</a:t>
            </a:r>
            <a:r>
              <a:rPr/>
              <a:t> 속도가 변하는 가속/감속 구간 추적용</a:t>
            </a:r>
          </a:p>
          <a:p>
            <a:pPr lvl="0"/>
            <a:r>
              <a:rPr b="1"/>
              <a:t>조항 선회(Coordinated Turn):</a:t>
            </a:r>
            <a:r>
              <a:rPr/>
              <a:t> 원운동 기동을 정밀 추적하기 위한 모델</a:t>
            </a:r>
          </a:p>
          <a:p>
            <a:pPr lvl="0"/>
            <a:r>
              <a:rPr b="1"/>
              <a:t>제약 조건:</a:t>
            </a:r>
            <a:r>
              <a:rPr/>
              <a:t> 선회 시 속도 벡터와 가속도 벡터의 수직 관계 활용</a:t>
            </a:r>
          </a:p>
          <a:p>
            <a:pPr lvl="0"/>
            <a:r>
              <a:rPr b="1"/>
              <a:t>모델 설계:</a:t>
            </a:r>
            <a:r>
              <a:rPr/>
              <a:t> 각 모델에 적절한 프로세스 잡음($Q$)을 차등 부여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12. 기동 표적에 대한 IMM 성능 비교</a:t>
            </a:r>
          </a:p>
          <a:p>
            <a:pPr lvl="0" indent="0" marL="0">
              <a:buNone/>
            </a:pPr>
            <a:r>
              <a:rPr/>
              <a:t>👉 IMM은 표적 기동 시 최적 모델 확률을 자동으로 높여 오차를 최소화함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13. 4D 레이더와 라이다(LiDAR) 센서 융합</a:t>
            </a:r>
          </a:p>
          <a:p>
            <a:pPr lvl="0"/>
            <a:r>
              <a:rPr b="1"/>
              <a:t>목적:</a:t>
            </a:r>
            <a:r>
              <a:rPr/>
              <a:t> 악천후(비, 눈, 안개) 환경에서도 자율주행 추적 성능 확보</a:t>
            </a:r>
          </a:p>
          <a:p>
            <a:pPr lvl="0"/>
            <a:r>
              <a:rPr b="1"/>
              <a:t>센서 특징:</a:t>
            </a:r>
            <a:r>
              <a:rPr/>
              <a:t> 라이다(정밀도 우수) + 레이더(기상 강인성, 속도 측정)</a:t>
            </a:r>
          </a:p>
          <a:p>
            <a:pPr lvl="0"/>
            <a:r>
              <a:rPr b="1"/>
              <a:t>Late Fusion:</a:t>
            </a:r>
            <a:r>
              <a:rPr/>
              <a:t> 각 센서를 개별 IMM 필터로 처리 후 통계적 결합</a:t>
            </a:r>
          </a:p>
          <a:p>
            <a:pPr lvl="0"/>
            <a:r>
              <a:rPr b="1"/>
              <a:t>적용 기술:</a:t>
            </a:r>
            <a:r>
              <a:rPr/>
              <a:t> 복잡한 도심 환경의 차량/보행자 거동 예측에 IMM 활용</a:t>
            </a:r>
          </a:p>
          <a:p>
            <a:pPr lvl="0"/>
            <a:r>
              <a:rPr b="1"/>
              <a:t>결과:</a:t>
            </a:r>
            <a:r>
              <a:rPr/>
              <a:t> 단일 센서 대비 압도적인 추적 연속성 및 정밀도 달성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14. 딥러닝 기반 추적 기술 및 LSTM</a:t>
            </a:r>
          </a:p>
          <a:p>
            <a:pPr lvl="0"/>
            <a:r>
              <a:rPr b="1"/>
              <a:t>Model-free 접근:</a:t>
            </a:r>
            <a:r>
              <a:rPr/>
              <a:t> 물리 수식 없이 데이터 학습만으로 상태 추정</a:t>
            </a:r>
          </a:p>
          <a:p>
            <a:pPr lvl="0"/>
            <a:r>
              <a:rPr b="1"/>
              <a:t>LSTM (RNN):</a:t>
            </a:r>
            <a:r>
              <a:rPr/>
              <a:t> 시계열 데이터의 장기 의존성을 학습하여 경로 예측</a:t>
            </a:r>
          </a:p>
          <a:p>
            <a:pPr lvl="0"/>
            <a:r>
              <a:rPr b="1"/>
              <a:t>장점:</a:t>
            </a:r>
            <a:r>
              <a:rPr/>
              <a:t> 수학적 모델링이 어려운 비선형/복합 기동 패턴 수용</a:t>
            </a:r>
          </a:p>
          <a:p>
            <a:pPr lvl="0"/>
            <a:r>
              <a:rPr b="1"/>
              <a:t>구조:</a:t>
            </a:r>
            <a:r>
              <a:rPr/>
              <a:t> 칼만 필터의 '예측-보정' 단계를 신경망 레이어로 대체</a:t>
            </a:r>
          </a:p>
          <a:p>
            <a:pPr lvl="0"/>
            <a:r>
              <a:rPr b="1"/>
              <a:t>효과:</a:t>
            </a:r>
            <a:r>
              <a:rPr/>
              <a:t> 모델 오차나 잡음 통계를 몰라도 정확한 추적 가능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15. 모듈형 다중 표적 추적(MTT) 아키텍처</a:t>
            </a:r>
          </a:p>
          <a:p>
            <a:pPr lvl="0"/>
            <a:r>
              <a:rPr b="1"/>
              <a:t>모듈화:</a:t>
            </a:r>
            <a:r>
              <a:rPr/>
              <a:t> 연관, 항적 관리, 필터링 등 각 단계를 독립 신경망으로 구성</a:t>
            </a:r>
          </a:p>
          <a:p>
            <a:pPr lvl="0"/>
            <a:r>
              <a:rPr b="1"/>
              <a:t>게이팅(Gating):</a:t>
            </a:r>
            <a:r>
              <a:rPr/>
              <a:t> 대규모 데이터를 클러스터링하여 연산 효율 확보</a:t>
            </a:r>
          </a:p>
          <a:p>
            <a:pPr lvl="0"/>
            <a:r>
              <a:rPr b="1"/>
              <a:t>구성 요소:</a:t>
            </a:r>
            <a:r>
              <a:rPr/>
              <a:t> Bi-LSTM(연관), Stacked LSTM(필터/예측) 등</a:t>
            </a:r>
          </a:p>
          <a:p>
            <a:pPr lvl="0"/>
            <a:r>
              <a:rPr b="1"/>
              <a:t>자동 관리:</a:t>
            </a:r>
            <a:r>
              <a:rPr/>
              <a:t> 항적 생성 및 소멸(Track Management)의 자동화</a:t>
            </a:r>
          </a:p>
          <a:p>
            <a:pPr lvl="0"/>
            <a:r>
              <a:rPr b="1"/>
              <a:t>해석 가능성:</a:t>
            </a:r>
            <a:r>
              <a:rPr/>
              <a:t> 모듈별 입출력 검증이 가능하여 블랙박스 문제 완화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16. 양방향 LSTM을 이용한 데이터 연관</a:t>
            </a:r>
          </a:p>
          <a:p>
            <a:pPr lvl="0"/>
            <a:r>
              <a:rPr b="1"/>
              <a:t>Bi-LSTM:</a:t>
            </a:r>
            <a:r>
              <a:rPr/>
              <a:t> 시퀀스의 과거와 미래 정보를 모두 활용하여 판단</a:t>
            </a:r>
          </a:p>
          <a:p>
            <a:pPr lvl="0"/>
            <a:r>
              <a:rPr b="1"/>
              <a:t>성능:</a:t>
            </a:r>
            <a:r>
              <a:rPr/>
              <a:t> 타겟 교차(Cross-over) 상황에서 JPDA보다 우수한 매칭</a:t>
            </a:r>
          </a:p>
          <a:p>
            <a:pPr lvl="0"/>
            <a:r>
              <a:rPr b="1"/>
              <a:t>정확도:</a:t>
            </a:r>
            <a:r>
              <a:rPr/>
              <a:t> 단순 LSTM 대비 손실(Loss) 58% 감소, 정확도 향상</a:t>
            </a:r>
          </a:p>
          <a:p>
            <a:pPr lvl="0"/>
            <a:r>
              <a:rPr b="1"/>
              <a:t>강건성:</a:t>
            </a:r>
            <a:r>
              <a:rPr/>
              <a:t> 타겟 수가 증가(1개→10개)해도 연관 정확도 유지</a:t>
            </a:r>
          </a:p>
          <a:p>
            <a:pPr lvl="0"/>
            <a:r>
              <a:rPr b="1"/>
              <a:t>방식:</a:t>
            </a:r>
            <a:r>
              <a:rPr/>
              <a:t> 측정치가 특정 항적에 속할 확률을 학습(Classification)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17. LSTM 기반 예측 및 필터링 모듈 성능</a:t>
            </a:r>
          </a:p>
          <a:p>
            <a:pPr lvl="0"/>
            <a:r>
              <a:rPr b="1"/>
              <a:t>독립 모델:</a:t>
            </a:r>
            <a:r>
              <a:rPr/>
              <a:t> 위치 예측망과 속도 예측망을 분리 운영하여 전문성 강화</a:t>
            </a:r>
          </a:p>
          <a:p>
            <a:pPr lvl="0"/>
            <a:r>
              <a:rPr b="1"/>
              <a:t>오차 감소:</a:t>
            </a:r>
            <a:r>
              <a:rPr/>
              <a:t> 복합 기동 시 IMM 대비 위치 오차(MSE) </a:t>
            </a:r>
            <a:r>
              <a:rPr b="1"/>
              <a:t>71% 감소</a:t>
            </a:r>
          </a:p>
          <a:p>
            <a:pPr lvl="0"/>
            <a:r>
              <a:rPr b="1"/>
              <a:t>유연성:</a:t>
            </a:r>
            <a:r>
              <a:rPr/>
              <a:t> 모델 전환(Straight → Turn) 시 튀는 현상 없이 부드러운 전이</a:t>
            </a:r>
          </a:p>
          <a:p>
            <a:pPr lvl="0"/>
            <a:r>
              <a:rPr b="1"/>
              <a:t>잡음 제거:</a:t>
            </a:r>
            <a:r>
              <a:rPr/>
              <a:t> Stacked LSTM 구조로 센서 노이즈를 효과적으로 정제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18. KalmanNet: 하이브리드 상태 추정</a:t>
            </a:r>
          </a:p>
          <a:p>
            <a:pPr lvl="0"/>
            <a:r>
              <a:rPr b="1"/>
              <a:t>Hybrid:</a:t>
            </a:r>
            <a:r>
              <a:rPr/>
              <a:t> 칼만 필터의 구조(MB) + 딥러닝의 학습(DD) 결합</a:t>
            </a:r>
          </a:p>
          <a:p>
            <a:pPr lvl="0"/>
            <a:r>
              <a:rPr b="1"/>
              <a:t>K-Gain 학습:</a:t>
            </a:r>
            <a:r>
              <a:rPr/>
              <a:t> 복잡한 공분산 계산 대신 RNN이 이득($K$)을 직접 예측</a:t>
            </a:r>
          </a:p>
          <a:p>
            <a:pPr lvl="0"/>
            <a:r>
              <a:rPr b="1"/>
              <a:t>특징:</a:t>
            </a:r>
            <a:r>
              <a:rPr/>
              <a:t> 잡음 공분산($Q, R$) 사전 정보 없이도 환경 특성 학습</a:t>
            </a:r>
          </a:p>
          <a:p>
            <a:pPr lvl="0"/>
            <a:r>
              <a:rPr b="1"/>
              <a:t>현황:</a:t>
            </a:r>
            <a:r>
              <a:rPr/>
              <a:t> 시뮬레이션에선 우수하나 실제 도로 데이터에선 검증 필요</a:t>
            </a:r>
          </a:p>
          <a:p>
            <a:pPr lvl="0"/>
            <a:r>
              <a:rPr b="1"/>
              <a:t>의의:</a:t>
            </a:r>
            <a:r>
              <a:rPr/>
              <a:t> 해석 가능한 AI(XAI) 추적기 개발의 중요한 방향성 제시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19. 파티클 필터(Particle Filter)와 고등 기법</a:t>
            </a:r>
          </a:p>
          <a:p>
            <a:pPr lvl="0"/>
            <a:r>
              <a:rPr b="1"/>
              <a:t>원리:</a:t>
            </a:r>
            <a:r>
              <a:rPr/>
              <a:t> 수많은 입자(Particle)를 뿌려 확률 분포를 근사(Monte Carlo)</a:t>
            </a:r>
          </a:p>
          <a:p>
            <a:pPr lvl="0"/>
            <a:r>
              <a:rPr b="1"/>
              <a:t>장점:</a:t>
            </a:r>
            <a:r>
              <a:rPr/>
              <a:t> 비가우시안, 비선형 등 어떤 형태의 잡음 분포도 처리 가능</a:t>
            </a:r>
          </a:p>
          <a:p>
            <a:pPr lvl="0"/>
            <a:r>
              <a:rPr b="1"/>
              <a:t>다중 모드:</a:t>
            </a:r>
            <a:r>
              <a:rPr/>
              <a:t> 표적 존재 확률이 여러 곳에 분산된 경우도 표현 가능</a:t>
            </a:r>
          </a:p>
          <a:p>
            <a:pPr lvl="0"/>
            <a:r>
              <a:rPr b="1"/>
              <a:t>단점:</a:t>
            </a:r>
            <a:r>
              <a:rPr/>
              <a:t> 파티클 수에 비례하여 연산량이 급증 (실시간성 제약)</a:t>
            </a:r>
          </a:p>
          <a:p>
            <a:pPr lvl="0"/>
            <a:r>
              <a:rPr b="1"/>
              <a:t>활용:</a:t>
            </a:r>
            <a:r>
              <a:rPr/>
              <a:t> 레이더 항적 상실 방지 등 특수 고정밀 추적에 사용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20. 결론 및 향후 전망</a:t>
            </a:r>
          </a:p>
          <a:p>
            <a:pPr lvl="0"/>
            <a:r>
              <a:rPr b="1"/>
              <a:t>기술 진화:</a:t>
            </a:r>
            <a:r>
              <a:rPr/>
              <a:t> 필터 이론(EKF, IMM) ➡️ AI 융합(LSTM, Hybrid)</a:t>
            </a:r>
          </a:p>
          <a:p>
            <a:pPr lvl="0"/>
            <a:r>
              <a:rPr b="1"/>
              <a:t>트렌드:</a:t>
            </a:r>
            <a:r>
              <a:rPr/>
              <a:t> 다중 센서 융합과 모델 프리(Model-free) 방식의 확산</a:t>
            </a:r>
          </a:p>
          <a:p>
            <a:pPr lvl="0"/>
            <a:r>
              <a:rPr b="1"/>
              <a:t>핵심 과제:</a:t>
            </a:r>
            <a:r>
              <a:rPr/>
              <a:t> 딥러닝 추적기의 신뢰성 검증 및 실시간 연산 최적화</a:t>
            </a:r>
          </a:p>
          <a:p>
            <a:pPr lvl="0"/>
            <a:r>
              <a:rPr b="1"/>
              <a:t>미래:</a:t>
            </a:r>
            <a:r>
              <a:rPr/>
              <a:t> 상황에 따라 최적 알고리즘을 스스로 선택하는 적응형 시스템</a:t>
            </a:r>
          </a:p>
          <a:p>
            <a:pPr lvl="0" indent="0" marL="0">
              <a:buNone/>
            </a:pPr>
            <a:r>
              <a:rPr b="1"/>
              <a:t>"안개 속 무용수의 춤"</a:t>
            </a:r>
            <a:r>
              <a:rPr/>
              <a:t> 비유처럼,</a:t>
            </a:r>
            <a:br/>
            <a:r>
              <a:rPr/>
              <a:t>수학적 계산(EKF)과 직관적 예측(AI)의 조화가 미래 추적 기술의 핵심입니다.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레이더 추적 기술 및 필터 알고리즘 총괄 분석</dc:title>
  <dc:creator/>
  <cp:keywords/>
  <dcterms:created xsi:type="dcterms:W3CDTF">2025-12-24T06:01:52Z</dcterms:created>
  <dcterms:modified xsi:type="dcterms:W3CDTF">2025-12-24T06:01:52Z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initial-scale=1.0</vt:lpwstr>
  </property>
</Properties>
</file>